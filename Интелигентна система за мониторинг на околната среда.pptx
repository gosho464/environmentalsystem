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ен стил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ен стил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Среден стил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AA4EF-5D8C-4403-B99E-7FEACE5FFC2C}" type="datetimeFigureOut">
              <a:rPr lang="bg-BG" smtClean="0"/>
              <a:t>7.6.2026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9EEC3-DD1D-463C-A757-A4D9AA0ACFC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47837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9EEC3-DD1D-463C-A757-A4D9AA0ACFC6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74804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640F265-AF41-40C0-922D-3373228FBA37}" type="datetimeFigureOut">
              <a:rPr lang="bg-BG" smtClean="0"/>
              <a:t>7.6.2026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827F0B5-1EFB-4F91-9CB5-B24BDDCB4D46}" type="slidenum">
              <a:rPr lang="bg-BG" smtClean="0"/>
              <a:t>‹#›</a:t>
            </a:fld>
            <a:endParaRPr lang="bg-BG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126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F265-AF41-40C0-922D-3373228FBA37}" type="datetimeFigureOut">
              <a:rPr lang="bg-BG" smtClean="0"/>
              <a:t>7.6.2026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F0B5-1EFB-4F91-9CB5-B24BDDCB4D4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37975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F265-AF41-40C0-922D-3373228FBA37}" type="datetimeFigureOut">
              <a:rPr lang="bg-BG" smtClean="0"/>
              <a:t>7.6.2026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F0B5-1EFB-4F91-9CB5-B24BDDCB4D46}" type="slidenum">
              <a:rPr lang="bg-BG" smtClean="0"/>
              <a:t>‹#›</a:t>
            </a:fld>
            <a:endParaRPr lang="bg-BG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540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F265-AF41-40C0-922D-3373228FBA37}" type="datetimeFigureOut">
              <a:rPr lang="bg-BG" smtClean="0"/>
              <a:t>7.6.2026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F0B5-1EFB-4F91-9CB5-B24BDDCB4D4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21579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F265-AF41-40C0-922D-3373228FBA37}" type="datetimeFigureOut">
              <a:rPr lang="bg-BG" smtClean="0"/>
              <a:t>7.6.2026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F0B5-1EFB-4F91-9CB5-B24BDDCB4D46}" type="slidenum">
              <a:rPr lang="bg-BG" smtClean="0"/>
              <a:t>‹#›</a:t>
            </a:fld>
            <a:endParaRPr lang="bg-BG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076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F265-AF41-40C0-922D-3373228FBA37}" type="datetimeFigureOut">
              <a:rPr lang="bg-BG" smtClean="0"/>
              <a:t>7.6.2026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F0B5-1EFB-4F91-9CB5-B24BDDCB4D46}" type="slidenum">
              <a:rPr lang="bg-BG" smtClean="0"/>
              <a:t>‹#›</a:t>
            </a:fld>
            <a:endParaRPr lang="bg-BG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339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F265-AF41-40C0-922D-3373228FBA37}" type="datetimeFigureOut">
              <a:rPr lang="bg-BG" smtClean="0"/>
              <a:t>7.6.2026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F0B5-1EFB-4F91-9CB5-B24BDDCB4D4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08097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F265-AF41-40C0-922D-3373228FBA37}" type="datetimeFigureOut">
              <a:rPr lang="bg-BG" smtClean="0"/>
              <a:t>7.6.2026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F0B5-1EFB-4F91-9CB5-B24BDDCB4D46}" type="slidenum">
              <a:rPr lang="bg-BG" smtClean="0"/>
              <a:t>‹#›</a:t>
            </a:fld>
            <a:endParaRPr lang="bg-BG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884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F265-AF41-40C0-922D-3373228FBA37}" type="datetimeFigureOut">
              <a:rPr lang="bg-BG" smtClean="0"/>
              <a:t>7.6.2026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F0B5-1EFB-4F91-9CB5-B24BDDCB4D4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63399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F265-AF41-40C0-922D-3373228FBA37}" type="datetimeFigureOut">
              <a:rPr lang="bg-BG" smtClean="0"/>
              <a:t>7.6.2026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F0B5-1EFB-4F91-9CB5-B24BDDCB4D4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51390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F265-AF41-40C0-922D-3373228FBA37}" type="datetimeFigureOut">
              <a:rPr lang="bg-BG" smtClean="0"/>
              <a:t>7.6.2026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F0B5-1EFB-4F91-9CB5-B24BDDCB4D46}" type="slidenum">
              <a:rPr lang="bg-BG" smtClean="0"/>
              <a:t>‹#›</a:t>
            </a:fld>
            <a:endParaRPr lang="bg-BG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778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F265-AF41-40C0-922D-3373228FBA37}" type="datetimeFigureOut">
              <a:rPr lang="bg-BG" smtClean="0"/>
              <a:t>7.6.2026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F0B5-1EFB-4F91-9CB5-B24BDDCB4D46}" type="slidenum">
              <a:rPr lang="bg-BG" smtClean="0"/>
              <a:t>‹#›</a:t>
            </a:fld>
            <a:endParaRPr lang="bg-BG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691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F265-AF41-40C0-922D-3373228FBA37}" type="datetimeFigureOut">
              <a:rPr lang="bg-BG" smtClean="0"/>
              <a:t>7.6.2026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F0B5-1EFB-4F91-9CB5-B24BDDCB4D4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74042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 на цита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F265-AF41-40C0-922D-3373228FBA37}" type="datetimeFigureOut">
              <a:rPr lang="bg-BG" smtClean="0"/>
              <a:t>7.6.2026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F0B5-1EFB-4F91-9CB5-B24BDDCB4D46}" type="slidenum">
              <a:rPr lang="bg-BG" smtClean="0"/>
              <a:t>‹#›</a:t>
            </a:fld>
            <a:endParaRPr lang="bg-BG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0970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или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F265-AF41-40C0-922D-3373228FBA37}" type="datetimeFigureOut">
              <a:rPr lang="bg-BG" smtClean="0"/>
              <a:t>7.6.2026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F0B5-1EFB-4F91-9CB5-B24BDDCB4D46}" type="slidenum">
              <a:rPr lang="bg-BG" smtClean="0"/>
              <a:t>‹#›</a:t>
            </a:fld>
            <a:endParaRPr lang="bg-BG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9467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F265-AF41-40C0-922D-3373228FBA37}" type="datetimeFigureOut">
              <a:rPr lang="bg-BG" smtClean="0"/>
              <a:t>7.6.2026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F0B5-1EFB-4F91-9CB5-B24BDDCB4D46}" type="slidenum">
              <a:rPr lang="bg-BG" smtClean="0"/>
              <a:t>‹#›</a:t>
            </a:fld>
            <a:endParaRPr lang="bg-BG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0467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F265-AF41-40C0-922D-3373228FBA37}" type="datetimeFigureOut">
              <a:rPr lang="bg-BG" smtClean="0"/>
              <a:t>7.6.2026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7F0B5-1EFB-4F91-9CB5-B24BDDCB4D46}" type="slidenum">
              <a:rPr lang="bg-BG" smtClean="0"/>
              <a:t>‹#›</a:t>
            </a:fld>
            <a:endParaRPr lang="bg-BG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90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40F265-AF41-40C0-922D-3373228FBA37}" type="datetimeFigureOut">
              <a:rPr lang="bg-BG" smtClean="0"/>
              <a:t>7.6.2026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827F0B5-1EFB-4F91-9CB5-B24BDDCB4D4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0893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2C2E864-15FA-87EE-CCFD-54DF190BE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8165" y="4040398"/>
            <a:ext cx="6815669" cy="1515533"/>
          </a:xfrm>
        </p:spPr>
        <p:txBody>
          <a:bodyPr>
            <a:normAutofit fontScale="90000"/>
          </a:bodyPr>
          <a:lstStyle/>
          <a:p>
            <a:r>
              <a:rPr lang="bg-BG" dirty="0"/>
              <a:t>Научен проект на </a:t>
            </a:r>
            <a:br>
              <a:rPr lang="bg-BG" dirty="0"/>
            </a:br>
            <a:r>
              <a:rPr lang="bg-BG" dirty="0"/>
              <a:t>Георги и Надежда:</a:t>
            </a:r>
            <a:br>
              <a:rPr lang="bg-BG" dirty="0"/>
            </a:br>
            <a:r>
              <a:rPr lang="bg-BG" dirty="0"/>
              <a:t> </a:t>
            </a:r>
            <a:r>
              <a:rPr lang="ru-RU" dirty="0" err="1"/>
              <a:t>интелигентна</a:t>
            </a:r>
            <a:r>
              <a:rPr lang="ru-RU" dirty="0"/>
              <a:t> система за мониторинг на </a:t>
            </a:r>
            <a:r>
              <a:rPr lang="ru-RU" dirty="0" err="1"/>
              <a:t>околната</a:t>
            </a:r>
            <a:r>
              <a:rPr lang="ru-RU" dirty="0"/>
              <a:t> среда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68654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7A15901-2A3C-BE87-0284-6B503AC65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Описание на проекта</a:t>
            </a: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060519C0-492E-6798-0BFA-7B98AFA428BA}"/>
              </a:ext>
            </a:extLst>
          </p:cNvPr>
          <p:cNvSpPr txBox="1"/>
          <p:nvPr/>
        </p:nvSpPr>
        <p:spPr>
          <a:xfrm>
            <a:off x="1295402" y="2958967"/>
            <a:ext cx="61186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Проектът</a:t>
            </a:r>
            <a:r>
              <a:rPr lang="ru-RU" dirty="0"/>
              <a:t> </a:t>
            </a:r>
            <a:r>
              <a:rPr lang="ru-RU" dirty="0" err="1"/>
              <a:t>представлява</a:t>
            </a:r>
            <a:r>
              <a:rPr lang="ru-RU" dirty="0"/>
              <a:t> </a:t>
            </a:r>
            <a:r>
              <a:rPr lang="ru-RU" dirty="0" err="1"/>
              <a:t>интелигентна</a:t>
            </a:r>
            <a:r>
              <a:rPr lang="ru-RU" dirty="0"/>
              <a:t> система за наблюдение на </a:t>
            </a:r>
            <a:r>
              <a:rPr lang="ru-RU" dirty="0" err="1"/>
              <a:t>фактори</a:t>
            </a:r>
            <a:r>
              <a:rPr lang="ru-RU" dirty="0"/>
              <a:t> от </a:t>
            </a:r>
            <a:r>
              <a:rPr lang="ru-RU" dirty="0" err="1"/>
              <a:t>околната</a:t>
            </a:r>
            <a:r>
              <a:rPr lang="ru-RU" dirty="0"/>
              <a:t> среда чрез </a:t>
            </a:r>
            <a:r>
              <a:rPr lang="ru-RU" dirty="0" err="1"/>
              <a:t>Arduino</a:t>
            </a:r>
            <a:r>
              <a:rPr lang="ru-RU" dirty="0"/>
              <a:t>. </a:t>
            </a:r>
            <a:r>
              <a:rPr lang="ru-RU" dirty="0" err="1"/>
              <a:t>Системата</a:t>
            </a:r>
            <a:r>
              <a:rPr lang="ru-RU" dirty="0"/>
              <a:t> </a:t>
            </a:r>
            <a:r>
              <a:rPr lang="ru-RU" dirty="0" err="1"/>
              <a:t>измерва</a:t>
            </a:r>
            <a:r>
              <a:rPr lang="ru-RU" dirty="0"/>
              <a:t>:</a:t>
            </a:r>
          </a:p>
          <a:p>
            <a:r>
              <a:rPr lang="ru-RU" dirty="0"/>
              <a:t>•	</a:t>
            </a:r>
            <a:r>
              <a:rPr lang="ru-RU" dirty="0" err="1"/>
              <a:t>Температурата</a:t>
            </a:r>
            <a:r>
              <a:rPr lang="ru-RU" dirty="0"/>
              <a:t> на </a:t>
            </a:r>
            <a:r>
              <a:rPr lang="ru-RU" dirty="0" err="1"/>
              <a:t>въздуха</a:t>
            </a:r>
            <a:r>
              <a:rPr lang="ru-RU" dirty="0"/>
              <a:t>;</a:t>
            </a:r>
          </a:p>
          <a:p>
            <a:r>
              <a:rPr lang="ru-RU" dirty="0"/>
              <a:t>•	</a:t>
            </a:r>
            <a:r>
              <a:rPr lang="ru-RU" dirty="0" err="1"/>
              <a:t>Влажността</a:t>
            </a:r>
            <a:r>
              <a:rPr lang="ru-RU" dirty="0"/>
              <a:t> на </a:t>
            </a:r>
            <a:r>
              <a:rPr lang="ru-RU" dirty="0" err="1"/>
              <a:t>почвата</a:t>
            </a:r>
            <a:r>
              <a:rPr lang="ru-RU" dirty="0"/>
              <a:t>;</a:t>
            </a:r>
          </a:p>
          <a:p>
            <a:r>
              <a:rPr lang="ru-RU" dirty="0"/>
              <a:t>•	</a:t>
            </a:r>
            <a:r>
              <a:rPr lang="ru-RU" dirty="0" err="1"/>
              <a:t>Нивото</a:t>
            </a:r>
            <a:r>
              <a:rPr lang="ru-RU" dirty="0"/>
              <a:t> на </a:t>
            </a:r>
            <a:r>
              <a:rPr lang="ru-RU" dirty="0" err="1"/>
              <a:t>вредни</a:t>
            </a:r>
            <a:r>
              <a:rPr lang="ru-RU" dirty="0"/>
              <a:t> </a:t>
            </a:r>
            <a:r>
              <a:rPr lang="ru-RU" dirty="0" err="1"/>
              <a:t>газове</a:t>
            </a:r>
            <a:r>
              <a:rPr lang="ru-RU" dirty="0"/>
              <a:t> </a:t>
            </a:r>
            <a:r>
              <a:rPr lang="ru-RU" dirty="0" err="1"/>
              <a:t>във</a:t>
            </a:r>
            <a:r>
              <a:rPr lang="ru-RU" dirty="0"/>
              <a:t> </a:t>
            </a:r>
            <a:r>
              <a:rPr lang="ru-RU" dirty="0" err="1"/>
              <a:t>въздуха</a:t>
            </a:r>
            <a:r>
              <a:rPr lang="ru-RU" dirty="0"/>
              <a:t>.</a:t>
            </a:r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61B7DF44-9029-40B0-A780-B23300393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098" y="2682073"/>
            <a:ext cx="2990221" cy="29902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03825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F10DAED5-658F-83E1-C646-3C6BF79547E9}"/>
              </a:ext>
            </a:extLst>
          </p:cNvPr>
          <p:cNvSpPr txBox="1"/>
          <p:nvPr/>
        </p:nvSpPr>
        <p:spPr>
          <a:xfrm>
            <a:off x="2581883" y="1858862"/>
            <a:ext cx="70282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/>
              <a:t>Получените</a:t>
            </a:r>
            <a:r>
              <a:rPr lang="ru-RU" sz="2400" dirty="0"/>
              <a:t> </a:t>
            </a:r>
            <a:r>
              <a:rPr lang="ru-RU" sz="2400" dirty="0" err="1"/>
              <a:t>данни</a:t>
            </a:r>
            <a:r>
              <a:rPr lang="ru-RU" sz="2400" dirty="0"/>
              <a:t> се </a:t>
            </a:r>
            <a:r>
              <a:rPr lang="ru-RU" sz="2400" dirty="0" err="1"/>
              <a:t>обработват</a:t>
            </a:r>
            <a:r>
              <a:rPr lang="ru-RU" sz="2400" dirty="0"/>
              <a:t> от </a:t>
            </a:r>
            <a:r>
              <a:rPr lang="ru-RU" sz="2400" dirty="0" err="1"/>
              <a:t>микроконтролер</a:t>
            </a:r>
            <a:r>
              <a:rPr lang="ru-RU" sz="2400" dirty="0"/>
              <a:t> </a:t>
            </a:r>
            <a:r>
              <a:rPr lang="ru-RU" sz="2400" dirty="0" err="1"/>
              <a:t>Arduino</a:t>
            </a:r>
            <a:r>
              <a:rPr lang="ru-RU" sz="2400" dirty="0"/>
              <a:t> </a:t>
            </a:r>
            <a:r>
              <a:rPr lang="ru-RU" sz="2400" dirty="0" err="1"/>
              <a:t>Uno</a:t>
            </a:r>
            <a:r>
              <a:rPr lang="ru-RU" sz="2400" dirty="0"/>
              <a:t> и се </a:t>
            </a:r>
            <a:r>
              <a:rPr lang="ru-RU" sz="2400" dirty="0" err="1"/>
              <a:t>извеждат</a:t>
            </a:r>
            <a:r>
              <a:rPr lang="ru-RU" sz="2400" dirty="0"/>
              <a:t> на </a:t>
            </a:r>
            <a:r>
              <a:rPr lang="ru-RU" sz="2400" dirty="0" err="1"/>
              <a:t>сериен</a:t>
            </a:r>
            <a:r>
              <a:rPr lang="ru-RU" sz="2400" dirty="0"/>
              <a:t> монитор. При </a:t>
            </a:r>
            <a:r>
              <a:rPr lang="ru-RU" sz="2400" dirty="0" err="1"/>
              <a:t>превишаване</a:t>
            </a:r>
            <a:r>
              <a:rPr lang="ru-RU" sz="2400" dirty="0"/>
              <a:t> на </a:t>
            </a:r>
            <a:r>
              <a:rPr lang="ru-RU" sz="2400" dirty="0" err="1"/>
              <a:t>зададени</a:t>
            </a:r>
            <a:r>
              <a:rPr lang="ru-RU" sz="2400" dirty="0"/>
              <a:t> </a:t>
            </a:r>
            <a:r>
              <a:rPr lang="ru-RU" sz="2400" dirty="0" err="1"/>
              <a:t>стойности</a:t>
            </a:r>
            <a:r>
              <a:rPr lang="ru-RU" sz="2400" dirty="0"/>
              <a:t> </a:t>
            </a:r>
            <a:r>
              <a:rPr lang="ru-RU" sz="2400" dirty="0" err="1"/>
              <a:t>системата</a:t>
            </a:r>
            <a:r>
              <a:rPr lang="ru-RU" sz="2400" dirty="0"/>
              <a:t> </a:t>
            </a:r>
            <a:r>
              <a:rPr lang="ru-RU" sz="2400" dirty="0" err="1"/>
              <a:t>може</a:t>
            </a:r>
            <a:r>
              <a:rPr lang="ru-RU" sz="2400" dirty="0"/>
              <a:t> да </a:t>
            </a:r>
            <a:r>
              <a:rPr lang="ru-RU" sz="2400" dirty="0" err="1"/>
              <a:t>подава</a:t>
            </a:r>
            <a:r>
              <a:rPr lang="ru-RU" sz="2400" dirty="0"/>
              <a:t> предупреждение за </a:t>
            </a:r>
            <a:r>
              <a:rPr lang="ru-RU" sz="2400" dirty="0" err="1"/>
              <a:t>неблагоприятни</a:t>
            </a:r>
            <a:r>
              <a:rPr lang="ru-RU" sz="2400" dirty="0"/>
              <a:t> условия.</a:t>
            </a:r>
          </a:p>
          <a:p>
            <a:r>
              <a:rPr lang="ru-RU" sz="2400" dirty="0" err="1"/>
              <a:t>Основната</a:t>
            </a:r>
            <a:r>
              <a:rPr lang="ru-RU" sz="2400" dirty="0"/>
              <a:t> цел на проекта е да </a:t>
            </a:r>
            <a:r>
              <a:rPr lang="ru-RU" sz="2400" dirty="0" err="1"/>
              <a:t>подпомага</a:t>
            </a:r>
            <a:r>
              <a:rPr lang="ru-RU" sz="2400" dirty="0"/>
              <a:t> </a:t>
            </a:r>
            <a:r>
              <a:rPr lang="ru-RU" sz="2400" dirty="0" err="1"/>
              <a:t>наблюдението</a:t>
            </a:r>
            <a:r>
              <a:rPr lang="ru-RU" sz="2400" dirty="0"/>
              <a:t> на </a:t>
            </a:r>
            <a:r>
              <a:rPr lang="ru-RU" sz="2400" dirty="0" err="1"/>
              <a:t>околната</a:t>
            </a:r>
            <a:r>
              <a:rPr lang="ru-RU" sz="2400" dirty="0"/>
              <a:t> среда и да </a:t>
            </a:r>
            <a:r>
              <a:rPr lang="ru-RU" sz="2400" dirty="0" err="1"/>
              <a:t>съдейства</a:t>
            </a:r>
            <a:r>
              <a:rPr lang="ru-RU" sz="2400" dirty="0"/>
              <a:t> за </a:t>
            </a:r>
            <a:r>
              <a:rPr lang="ru-RU" sz="2400" dirty="0" err="1"/>
              <a:t>по-добро</a:t>
            </a:r>
            <a:r>
              <a:rPr lang="ru-RU" sz="2400" dirty="0"/>
              <a:t> управление на растения, </a:t>
            </a:r>
            <a:r>
              <a:rPr lang="ru-RU" sz="2400" dirty="0" err="1"/>
              <a:t>градини</a:t>
            </a:r>
            <a:r>
              <a:rPr lang="ru-RU" sz="2400" dirty="0"/>
              <a:t> и зелени </a:t>
            </a:r>
            <a:r>
              <a:rPr lang="ru-RU" sz="2400" dirty="0" err="1"/>
              <a:t>площи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5861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5242554-2BF8-B7F2-C535-4AA2FE610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Използвани компоненти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7BA569-9FB1-8B69-D978-7A4AB953D343}"/>
              </a:ext>
            </a:extLst>
          </p:cNvPr>
          <p:cNvGraphicFramePr>
            <a:graphicFrameLocks noGrp="1"/>
          </p:cNvGraphicFramePr>
          <p:nvPr/>
        </p:nvGraphicFramePr>
        <p:xfrm>
          <a:off x="1972894" y="2557464"/>
          <a:ext cx="8246212" cy="33178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10626">
                  <a:extLst>
                    <a:ext uri="{9D8B030D-6E8A-4147-A177-3AD203B41FA5}">
                      <a16:colId xmlns:a16="http://schemas.microsoft.com/office/drawing/2014/main" val="1940199814"/>
                    </a:ext>
                  </a:extLst>
                </a:gridCol>
                <a:gridCol w="1354081">
                  <a:extLst>
                    <a:ext uri="{9D8B030D-6E8A-4147-A177-3AD203B41FA5}">
                      <a16:colId xmlns:a16="http://schemas.microsoft.com/office/drawing/2014/main" val="1156575945"/>
                    </a:ext>
                  </a:extLst>
                </a:gridCol>
                <a:gridCol w="5781505">
                  <a:extLst>
                    <a:ext uri="{9D8B030D-6E8A-4147-A177-3AD203B41FA5}">
                      <a16:colId xmlns:a16="http://schemas.microsoft.com/office/drawing/2014/main" val="645098148"/>
                    </a:ext>
                  </a:extLst>
                </a:gridCol>
              </a:tblGrid>
              <a:tr h="4147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Name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Quantity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Component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extLst>
                  <a:ext uri="{0D108BD9-81ED-4DB2-BD59-A6C34878D82A}">
                    <a16:rowId xmlns:a16="http://schemas.microsoft.com/office/drawing/2014/main" val="2335395728"/>
                  </a:ext>
                </a:extLst>
              </a:tr>
              <a:tr h="41473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U1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1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 Arduino Uno R3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extLst>
                  <a:ext uri="{0D108BD9-81ED-4DB2-BD59-A6C34878D82A}">
                    <a16:rowId xmlns:a16="http://schemas.microsoft.com/office/drawing/2014/main" val="641514209"/>
                  </a:ext>
                </a:extLst>
              </a:tr>
              <a:tr h="41473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U2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1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MCP23008-based, 32 (0x20) LCD 16 x 2 (I2C)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extLst>
                  <a:ext uri="{0D108BD9-81ED-4DB2-BD59-A6C34878D82A}">
                    <a16:rowId xmlns:a16="http://schemas.microsoft.com/office/drawing/2014/main" val="1834532096"/>
                  </a:ext>
                </a:extLst>
              </a:tr>
              <a:tr h="41473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SEN1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1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 Soil Moisture Sensor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extLst>
                  <a:ext uri="{0D108BD9-81ED-4DB2-BD59-A6C34878D82A}">
                    <a16:rowId xmlns:a16="http://schemas.microsoft.com/office/drawing/2014/main" val="3286247661"/>
                  </a:ext>
                </a:extLst>
              </a:tr>
              <a:tr h="41473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U3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1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 Temperature Sensor [TMP36]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extLst>
                  <a:ext uri="{0D108BD9-81ED-4DB2-BD59-A6C34878D82A}">
                    <a16:rowId xmlns:a16="http://schemas.microsoft.com/office/drawing/2014/main" val="3377434410"/>
                  </a:ext>
                </a:extLst>
              </a:tr>
              <a:tr h="41473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GAS1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1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 Gas Sensor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extLst>
                  <a:ext uri="{0D108BD9-81ED-4DB2-BD59-A6C34878D82A}">
                    <a16:rowId xmlns:a16="http://schemas.microsoft.com/office/drawing/2014/main" val="3452446437"/>
                  </a:ext>
                </a:extLst>
              </a:tr>
              <a:tr h="41473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R1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1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1 kΩ Resistor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extLst>
                  <a:ext uri="{0D108BD9-81ED-4DB2-BD59-A6C34878D82A}">
                    <a16:rowId xmlns:a16="http://schemas.microsoft.com/office/drawing/2014/main" val="742353159"/>
                  </a:ext>
                </a:extLst>
              </a:tr>
              <a:tr h="41473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PIEZO1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>
                          <a:effectLst/>
                        </a:rPr>
                        <a:t>1</a:t>
                      </a:r>
                      <a:endParaRPr lang="bg-BG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bg-BG" sz="900" kern="0" dirty="0">
                          <a:effectLst/>
                        </a:rPr>
                        <a:t> </a:t>
                      </a:r>
                      <a:r>
                        <a:rPr lang="bg-BG" sz="900" kern="0" dirty="0" err="1">
                          <a:effectLst/>
                        </a:rPr>
                        <a:t>Piezo</a:t>
                      </a:r>
                      <a:endParaRPr lang="bg-BG" sz="9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703" marR="37703" marT="0" marB="0" anchor="b"/>
                </a:tc>
                <a:extLst>
                  <a:ext uri="{0D108BD9-81ED-4DB2-BD59-A6C34878D82A}">
                    <a16:rowId xmlns:a16="http://schemas.microsoft.com/office/drawing/2014/main" val="1102563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8319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5216465-C818-AD12-AD93-976D2D1D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Схема на свързване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FDAD55-82DB-3376-24D6-F0F0048F3E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2" r="22902"/>
          <a:stretch/>
        </p:blipFill>
        <p:spPr bwMode="auto">
          <a:xfrm>
            <a:off x="3382284" y="2519935"/>
            <a:ext cx="5699370" cy="410413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77592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FAD62A1-99A9-0BB0-33FE-23AB62D7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Електрическа схема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DC0252-FAB5-61EB-7AF4-BF324139B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442" y="2818966"/>
            <a:ext cx="4081116" cy="314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36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7EA3D6D-095F-B8DF-5C51-315447534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Описание на програмния код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2D2FA9-F61A-BCAA-648A-450EFC4C65F7}"/>
              </a:ext>
            </a:extLst>
          </p:cNvPr>
          <p:cNvSpPr txBox="1"/>
          <p:nvPr/>
        </p:nvSpPr>
        <p:spPr>
          <a:xfrm>
            <a:off x="1046018" y="2791242"/>
            <a:ext cx="1009996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</a:t>
            </a:r>
            <a:r>
              <a:rPr lang="ru-RU" dirty="0" err="1"/>
              <a:t>основния</a:t>
            </a:r>
            <a:r>
              <a:rPr lang="ru-RU" dirty="0"/>
              <a:t> </a:t>
            </a:r>
            <a:r>
              <a:rPr lang="ru-RU" dirty="0" err="1"/>
              <a:t>цикъл</a:t>
            </a:r>
            <a:r>
              <a:rPr lang="ru-RU" dirty="0"/>
              <a:t> </a:t>
            </a:r>
            <a:r>
              <a:rPr lang="ru-RU" dirty="0" err="1"/>
              <a:t>вграденият</a:t>
            </a:r>
            <a:r>
              <a:rPr lang="ru-RU" dirty="0"/>
              <a:t> светодиод на </a:t>
            </a:r>
            <a:r>
              <a:rPr lang="ru-RU" dirty="0" err="1"/>
              <a:t>Arduino</a:t>
            </a:r>
            <a:r>
              <a:rPr lang="ru-RU" dirty="0"/>
              <a:t> мига </a:t>
            </a:r>
            <a:r>
              <a:rPr lang="ru-RU" dirty="0" err="1"/>
              <a:t>през</a:t>
            </a:r>
            <a:r>
              <a:rPr lang="ru-RU" dirty="0"/>
              <a:t> </a:t>
            </a:r>
            <a:r>
              <a:rPr lang="ru-RU" dirty="0" err="1"/>
              <a:t>една</a:t>
            </a:r>
            <a:r>
              <a:rPr lang="ru-RU" dirty="0"/>
              <a:t> секунда, </a:t>
            </a:r>
            <a:r>
              <a:rPr lang="ru-RU" dirty="0" err="1"/>
              <a:t>което</a:t>
            </a:r>
            <a:r>
              <a:rPr lang="ru-RU" dirty="0"/>
              <a:t> </a:t>
            </a:r>
            <a:r>
              <a:rPr lang="ru-RU" dirty="0" err="1"/>
              <a:t>показва</a:t>
            </a:r>
            <a:r>
              <a:rPr lang="ru-RU" dirty="0"/>
              <a:t>, че </a:t>
            </a:r>
            <a:r>
              <a:rPr lang="ru-RU" dirty="0" err="1"/>
              <a:t>програмата</a:t>
            </a:r>
            <a:r>
              <a:rPr lang="ru-RU" dirty="0"/>
              <a:t> </a:t>
            </a:r>
            <a:r>
              <a:rPr lang="ru-RU" dirty="0" err="1"/>
              <a:t>работи</a:t>
            </a:r>
            <a:r>
              <a:rPr lang="ru-RU" dirty="0"/>
              <a:t> </a:t>
            </a:r>
            <a:r>
              <a:rPr lang="ru-RU" dirty="0" err="1"/>
              <a:t>нормално</a:t>
            </a:r>
            <a:r>
              <a:rPr lang="ru-RU" dirty="0"/>
              <a:t>. След </a:t>
            </a:r>
            <a:r>
              <a:rPr lang="ru-RU" dirty="0" err="1"/>
              <a:t>това</a:t>
            </a:r>
            <a:r>
              <a:rPr lang="ru-RU" dirty="0"/>
              <a:t> LCD </a:t>
            </a:r>
            <a:r>
              <a:rPr lang="ru-RU" dirty="0" err="1"/>
              <a:t>дисплеят</a:t>
            </a:r>
            <a:r>
              <a:rPr lang="ru-RU" dirty="0"/>
              <a:t> се </a:t>
            </a:r>
            <a:r>
              <a:rPr lang="ru-RU" dirty="0" err="1"/>
              <a:t>обновява</a:t>
            </a:r>
            <a:r>
              <a:rPr lang="ru-RU" dirty="0"/>
              <a:t> и на </a:t>
            </a:r>
            <a:r>
              <a:rPr lang="ru-RU" dirty="0" err="1"/>
              <a:t>първия</a:t>
            </a:r>
            <a:r>
              <a:rPr lang="ru-RU" dirty="0"/>
              <a:t> </a:t>
            </a:r>
            <a:r>
              <a:rPr lang="ru-RU" dirty="0" err="1"/>
              <a:t>ред</a:t>
            </a:r>
            <a:r>
              <a:rPr lang="ru-RU" dirty="0"/>
              <a:t> се </a:t>
            </a:r>
            <a:r>
              <a:rPr lang="ru-RU" dirty="0" err="1"/>
              <a:t>показва</a:t>
            </a:r>
            <a:r>
              <a:rPr lang="ru-RU" dirty="0"/>
              <a:t> </a:t>
            </a:r>
            <a:r>
              <a:rPr lang="ru-RU" dirty="0" err="1"/>
              <a:t>текущата</a:t>
            </a:r>
            <a:r>
              <a:rPr lang="ru-RU" dirty="0"/>
              <a:t> температура, </a:t>
            </a:r>
            <a:r>
              <a:rPr lang="ru-RU" dirty="0" err="1"/>
              <a:t>изчислена</a:t>
            </a:r>
            <a:r>
              <a:rPr lang="ru-RU" dirty="0"/>
              <a:t> чрез формула от </a:t>
            </a:r>
            <a:r>
              <a:rPr lang="ru-RU" dirty="0" err="1"/>
              <a:t>стойността</a:t>
            </a:r>
            <a:r>
              <a:rPr lang="ru-RU" dirty="0"/>
              <a:t> на </a:t>
            </a:r>
            <a:r>
              <a:rPr lang="ru-RU" dirty="0" err="1"/>
              <a:t>температурния</a:t>
            </a:r>
            <a:r>
              <a:rPr lang="ru-RU" dirty="0"/>
              <a:t> </a:t>
            </a:r>
            <a:r>
              <a:rPr lang="ru-RU" dirty="0" err="1"/>
              <a:t>сензор</a:t>
            </a:r>
            <a:r>
              <a:rPr lang="ru-RU" dirty="0"/>
              <a:t>. На </a:t>
            </a:r>
            <a:r>
              <a:rPr lang="ru-RU" dirty="0" err="1"/>
              <a:t>втория</a:t>
            </a:r>
            <a:r>
              <a:rPr lang="ru-RU" dirty="0"/>
              <a:t> </a:t>
            </a:r>
            <a:r>
              <a:rPr lang="ru-RU" dirty="0" err="1"/>
              <a:t>ред</a:t>
            </a:r>
            <a:r>
              <a:rPr lang="ru-RU" dirty="0"/>
              <a:t> се </a:t>
            </a:r>
            <a:r>
              <a:rPr lang="ru-RU" dirty="0" err="1"/>
              <a:t>показва</a:t>
            </a:r>
            <a:r>
              <a:rPr lang="ru-RU" dirty="0"/>
              <a:t> </a:t>
            </a:r>
            <a:r>
              <a:rPr lang="ru-RU" dirty="0" err="1"/>
              <a:t>стойността</a:t>
            </a:r>
            <a:r>
              <a:rPr lang="ru-RU" dirty="0"/>
              <a:t> на </a:t>
            </a:r>
            <a:r>
              <a:rPr lang="ru-RU" dirty="0" err="1"/>
              <a:t>влажността</a:t>
            </a:r>
            <a:r>
              <a:rPr lang="ru-RU" dirty="0"/>
              <a:t>, </a:t>
            </a:r>
            <a:r>
              <a:rPr lang="ru-RU" dirty="0" err="1"/>
              <a:t>отчетена</a:t>
            </a:r>
            <a:r>
              <a:rPr lang="ru-RU" dirty="0"/>
              <a:t> от </a:t>
            </a:r>
            <a:r>
              <a:rPr lang="ru-RU" dirty="0" err="1"/>
              <a:t>сензора</a:t>
            </a:r>
            <a:r>
              <a:rPr lang="ru-RU" dirty="0"/>
              <a:t> на A2.</a:t>
            </a:r>
          </a:p>
          <a:p>
            <a:r>
              <a:rPr lang="ru-RU" dirty="0" err="1"/>
              <a:t>Същевременно</a:t>
            </a:r>
            <a:r>
              <a:rPr lang="ru-RU" dirty="0"/>
              <a:t> </a:t>
            </a:r>
            <a:r>
              <a:rPr lang="ru-RU" dirty="0" err="1"/>
              <a:t>стойността</a:t>
            </a:r>
            <a:r>
              <a:rPr lang="ru-RU" dirty="0"/>
              <a:t> от аналогов вход A3 се </a:t>
            </a:r>
            <a:r>
              <a:rPr lang="ru-RU" dirty="0" err="1"/>
              <a:t>изпраща</a:t>
            </a:r>
            <a:r>
              <a:rPr lang="ru-RU" dirty="0"/>
              <a:t> </a:t>
            </a:r>
            <a:r>
              <a:rPr lang="ru-RU" dirty="0" err="1"/>
              <a:t>към</a:t>
            </a:r>
            <a:r>
              <a:rPr lang="ru-RU" dirty="0"/>
              <a:t> </a:t>
            </a:r>
            <a:r>
              <a:rPr lang="ru-RU" dirty="0" err="1"/>
              <a:t>серийния</a:t>
            </a:r>
            <a:r>
              <a:rPr lang="ru-RU" dirty="0"/>
              <a:t> монитор за наблюдение. </a:t>
            </a:r>
            <a:r>
              <a:rPr lang="ru-RU" dirty="0" err="1"/>
              <a:t>Ако</a:t>
            </a:r>
            <a:r>
              <a:rPr lang="ru-RU" dirty="0"/>
              <a:t> </a:t>
            </a:r>
            <a:r>
              <a:rPr lang="ru-RU" dirty="0" err="1"/>
              <a:t>тази</a:t>
            </a:r>
            <a:r>
              <a:rPr lang="ru-RU" dirty="0"/>
              <a:t> </a:t>
            </a:r>
            <a:r>
              <a:rPr lang="ru-RU" dirty="0" err="1"/>
              <a:t>стойност</a:t>
            </a:r>
            <a:r>
              <a:rPr lang="ru-RU" dirty="0"/>
              <a:t> е </a:t>
            </a:r>
            <a:r>
              <a:rPr lang="ru-RU" dirty="0" err="1"/>
              <a:t>по-голяма</a:t>
            </a:r>
            <a:r>
              <a:rPr lang="ru-RU" dirty="0"/>
              <a:t> или равна на 150, се </a:t>
            </a:r>
            <a:r>
              <a:rPr lang="ru-RU" dirty="0" err="1"/>
              <a:t>включват</a:t>
            </a:r>
            <a:r>
              <a:rPr lang="ru-RU" dirty="0"/>
              <a:t> </a:t>
            </a:r>
            <a:r>
              <a:rPr lang="ru-RU" dirty="0" err="1"/>
              <a:t>светодиодът</a:t>
            </a:r>
            <a:r>
              <a:rPr lang="ru-RU" dirty="0"/>
              <a:t> на пин 13 и </a:t>
            </a:r>
            <a:r>
              <a:rPr lang="ru-RU" dirty="0" err="1"/>
              <a:t>устройството</a:t>
            </a:r>
            <a:r>
              <a:rPr lang="ru-RU" dirty="0"/>
              <a:t>, </a:t>
            </a:r>
            <a:r>
              <a:rPr lang="ru-RU" dirty="0" err="1"/>
              <a:t>свързано</a:t>
            </a:r>
            <a:r>
              <a:rPr lang="ru-RU" dirty="0"/>
              <a:t> </a:t>
            </a:r>
            <a:r>
              <a:rPr lang="ru-RU" dirty="0" err="1"/>
              <a:t>към</a:t>
            </a:r>
            <a:r>
              <a:rPr lang="ru-RU" dirty="0"/>
              <a:t> пин 10 (например помпа, </a:t>
            </a:r>
            <a:r>
              <a:rPr lang="ru-RU" dirty="0" err="1"/>
              <a:t>вентилатор</a:t>
            </a:r>
            <a:r>
              <a:rPr lang="ru-RU" dirty="0"/>
              <a:t> или </a:t>
            </a:r>
            <a:r>
              <a:rPr lang="ru-RU" dirty="0" err="1"/>
              <a:t>аларма</a:t>
            </a:r>
            <a:r>
              <a:rPr lang="ru-RU" dirty="0"/>
              <a:t>). При </a:t>
            </a:r>
            <a:r>
              <a:rPr lang="ru-RU" dirty="0" err="1"/>
              <a:t>стойност</a:t>
            </a:r>
            <a:r>
              <a:rPr lang="ru-RU" dirty="0"/>
              <a:t> под 150 те се </a:t>
            </a:r>
            <a:r>
              <a:rPr lang="ru-RU" dirty="0" err="1"/>
              <a:t>изключват</a:t>
            </a:r>
            <a:r>
              <a:rPr lang="ru-RU" dirty="0"/>
              <a:t>.</a:t>
            </a:r>
          </a:p>
          <a:p>
            <a:r>
              <a:rPr lang="ru-RU" dirty="0"/>
              <a:t>По </a:t>
            </a:r>
            <a:r>
              <a:rPr lang="ru-RU" dirty="0" err="1"/>
              <a:t>този</a:t>
            </a:r>
            <a:r>
              <a:rPr lang="ru-RU" dirty="0"/>
              <a:t> начин </a:t>
            </a:r>
            <a:r>
              <a:rPr lang="ru-RU" dirty="0" err="1"/>
              <a:t>системата</a:t>
            </a:r>
            <a:r>
              <a:rPr lang="ru-RU" dirty="0"/>
              <a:t> </a:t>
            </a:r>
            <a:r>
              <a:rPr lang="ru-RU" dirty="0" err="1"/>
              <a:t>позволява</a:t>
            </a:r>
            <a:r>
              <a:rPr lang="ru-RU" dirty="0"/>
              <a:t> </a:t>
            </a:r>
            <a:r>
              <a:rPr lang="ru-RU" dirty="0" err="1"/>
              <a:t>непрекъснат</a:t>
            </a:r>
            <a:r>
              <a:rPr lang="ru-RU" dirty="0"/>
              <a:t> мониторинг на </a:t>
            </a:r>
            <a:r>
              <a:rPr lang="ru-RU" dirty="0" err="1"/>
              <a:t>температурата</a:t>
            </a:r>
            <a:r>
              <a:rPr lang="ru-RU" dirty="0"/>
              <a:t> и </a:t>
            </a:r>
            <a:r>
              <a:rPr lang="ru-RU" dirty="0" err="1"/>
              <a:t>влажността</a:t>
            </a:r>
            <a:r>
              <a:rPr lang="ru-RU" dirty="0"/>
              <a:t>, </a:t>
            </a:r>
            <a:r>
              <a:rPr lang="ru-RU" dirty="0" err="1"/>
              <a:t>както</a:t>
            </a:r>
            <a:r>
              <a:rPr lang="ru-RU" dirty="0"/>
              <a:t> и автоматично управление на </a:t>
            </a:r>
            <a:r>
              <a:rPr lang="ru-RU" dirty="0" err="1"/>
              <a:t>външно</a:t>
            </a:r>
            <a:r>
              <a:rPr lang="ru-RU" dirty="0"/>
              <a:t> устройство </a:t>
            </a:r>
            <a:r>
              <a:rPr lang="ru-RU" dirty="0" err="1"/>
              <a:t>според</a:t>
            </a:r>
            <a:r>
              <a:rPr lang="ru-RU" dirty="0"/>
              <a:t> </a:t>
            </a:r>
            <a:r>
              <a:rPr lang="ru-RU" dirty="0" err="1"/>
              <a:t>зададените</a:t>
            </a:r>
            <a:r>
              <a:rPr lang="ru-RU" dirty="0"/>
              <a:t> условия.</a:t>
            </a:r>
          </a:p>
        </p:txBody>
      </p:sp>
    </p:spTree>
    <p:extLst>
      <p:ext uri="{BB962C8B-B14F-4D97-AF65-F5344CB8AC3E}">
        <p14:creationId xmlns:p14="http://schemas.microsoft.com/office/powerpoint/2010/main" val="2376868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64F41F7-55E3-0AF3-FE27-21CDD1AD6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функции</a:t>
            </a: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0E063FBA-FB70-74DD-B1EC-A53DF7ECB6F2}"/>
              </a:ext>
            </a:extLst>
          </p:cNvPr>
          <p:cNvSpPr txBox="1"/>
          <p:nvPr/>
        </p:nvSpPr>
        <p:spPr>
          <a:xfrm>
            <a:off x="1295402" y="3114129"/>
            <a:ext cx="550099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 err="1"/>
              <a:t>setup</a:t>
            </a:r>
            <a:r>
              <a:rPr lang="ru-RU" sz="2000" b="1" dirty="0"/>
              <a:t>()</a:t>
            </a:r>
          </a:p>
          <a:p>
            <a:r>
              <a:rPr lang="ru-RU" sz="2000" dirty="0" err="1"/>
              <a:t>Функцията</a:t>
            </a:r>
            <a:r>
              <a:rPr lang="ru-RU" sz="2000" dirty="0"/>
              <a:t> се </a:t>
            </a:r>
            <a:r>
              <a:rPr lang="ru-RU" sz="2000" dirty="0" err="1"/>
              <a:t>изпълнява</a:t>
            </a:r>
            <a:r>
              <a:rPr lang="ru-RU" sz="2000" dirty="0"/>
              <a:t> </a:t>
            </a:r>
            <a:r>
              <a:rPr lang="ru-RU" sz="2000" dirty="0" err="1"/>
              <a:t>еднократно</a:t>
            </a:r>
            <a:r>
              <a:rPr lang="ru-RU" sz="2000" dirty="0"/>
              <a:t> при </a:t>
            </a:r>
            <a:r>
              <a:rPr lang="ru-RU" sz="2000" dirty="0" err="1"/>
              <a:t>стартиране</a:t>
            </a:r>
            <a:r>
              <a:rPr lang="ru-RU" sz="2000" dirty="0"/>
              <a:t> на </a:t>
            </a:r>
            <a:r>
              <a:rPr lang="ru-RU" sz="2000" dirty="0" err="1"/>
              <a:t>Arduino</a:t>
            </a:r>
            <a:r>
              <a:rPr lang="ru-RU" sz="2000" dirty="0"/>
              <a:t>. </a:t>
            </a:r>
            <a:r>
              <a:rPr lang="ru-RU" sz="2000" dirty="0" err="1"/>
              <a:t>Тя</a:t>
            </a:r>
            <a:r>
              <a:rPr lang="ru-RU" sz="2000" dirty="0"/>
              <a:t>:</a:t>
            </a:r>
          </a:p>
          <a:p>
            <a:r>
              <a:rPr lang="ru-RU" sz="2000" dirty="0"/>
              <a:t>•	</a:t>
            </a:r>
            <a:r>
              <a:rPr lang="ru-RU" sz="2000" dirty="0" err="1"/>
              <a:t>стартира</a:t>
            </a:r>
            <a:r>
              <a:rPr lang="ru-RU" sz="2000" dirty="0"/>
              <a:t> </a:t>
            </a:r>
            <a:r>
              <a:rPr lang="ru-RU" sz="2000" dirty="0" err="1"/>
              <a:t>серийната</a:t>
            </a:r>
            <a:r>
              <a:rPr lang="ru-RU" sz="2000" dirty="0"/>
              <a:t> </a:t>
            </a:r>
            <a:r>
              <a:rPr lang="ru-RU" sz="2000" dirty="0" err="1"/>
              <a:t>комуникация</a:t>
            </a:r>
            <a:r>
              <a:rPr lang="ru-RU" sz="2000" dirty="0"/>
              <a:t>;</a:t>
            </a:r>
          </a:p>
          <a:p>
            <a:r>
              <a:rPr lang="ru-RU" sz="2000" dirty="0"/>
              <a:t>•	</a:t>
            </a:r>
            <a:r>
              <a:rPr lang="ru-RU" sz="2000" dirty="0" err="1"/>
              <a:t>инициализира</a:t>
            </a:r>
            <a:r>
              <a:rPr lang="ru-RU" sz="2000" dirty="0"/>
              <a:t> DHT11 </a:t>
            </a:r>
            <a:r>
              <a:rPr lang="ru-RU" sz="2000" dirty="0" err="1"/>
              <a:t>сензора</a:t>
            </a:r>
            <a:r>
              <a:rPr lang="ru-RU" sz="2000" dirty="0"/>
              <a:t>.</a:t>
            </a:r>
          </a:p>
        </p:txBody>
      </p:sp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id="{675453FE-6C0A-570E-70A3-92B8478E6CD6}"/>
              </a:ext>
            </a:extLst>
          </p:cNvPr>
          <p:cNvSpPr txBox="1"/>
          <p:nvPr/>
        </p:nvSpPr>
        <p:spPr>
          <a:xfrm>
            <a:off x="6366755" y="3114129"/>
            <a:ext cx="438231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 err="1"/>
              <a:t>loop</a:t>
            </a:r>
            <a:r>
              <a:rPr lang="ru-RU" sz="2400" b="1" dirty="0"/>
              <a:t>()</a:t>
            </a:r>
          </a:p>
          <a:p>
            <a:r>
              <a:rPr lang="ru-RU" sz="2000" dirty="0" err="1"/>
              <a:t>Функцията</a:t>
            </a:r>
            <a:r>
              <a:rPr lang="ru-RU" sz="2000" dirty="0"/>
              <a:t> се </a:t>
            </a:r>
            <a:r>
              <a:rPr lang="ru-RU" sz="2000" dirty="0" err="1"/>
              <a:t>изпълнява</a:t>
            </a:r>
            <a:r>
              <a:rPr lang="ru-RU" sz="2000" dirty="0"/>
              <a:t> </a:t>
            </a:r>
            <a:r>
              <a:rPr lang="ru-RU" sz="2000" dirty="0" err="1"/>
              <a:t>непрекъснато</a:t>
            </a:r>
            <a:r>
              <a:rPr lang="ru-RU" sz="2000" dirty="0"/>
              <a:t> и:</a:t>
            </a:r>
          </a:p>
          <a:p>
            <a:r>
              <a:rPr lang="ru-RU" sz="2000" dirty="0"/>
              <a:t>•	</a:t>
            </a:r>
            <a:r>
              <a:rPr lang="ru-RU" sz="2000" dirty="0" err="1"/>
              <a:t>отчита</a:t>
            </a:r>
            <a:r>
              <a:rPr lang="ru-RU" sz="2000" dirty="0"/>
              <a:t> </a:t>
            </a:r>
            <a:r>
              <a:rPr lang="ru-RU" sz="2000" dirty="0" err="1"/>
              <a:t>данните</a:t>
            </a:r>
            <a:r>
              <a:rPr lang="ru-RU" sz="2000" dirty="0"/>
              <a:t> от </a:t>
            </a:r>
            <a:r>
              <a:rPr lang="ru-RU" sz="2000" dirty="0" err="1"/>
              <a:t>всички</a:t>
            </a:r>
            <a:r>
              <a:rPr lang="ru-RU" sz="2000" dirty="0"/>
              <a:t> </a:t>
            </a:r>
            <a:r>
              <a:rPr lang="ru-RU" sz="2000" dirty="0" err="1"/>
              <a:t>сензори</a:t>
            </a:r>
            <a:r>
              <a:rPr lang="ru-RU" sz="2000" dirty="0"/>
              <a:t>;</a:t>
            </a:r>
          </a:p>
          <a:p>
            <a:r>
              <a:rPr lang="ru-RU" sz="2000" dirty="0"/>
              <a:t>•	</a:t>
            </a:r>
            <a:r>
              <a:rPr lang="ru-RU" sz="2000" dirty="0" err="1"/>
              <a:t>обработва</a:t>
            </a:r>
            <a:r>
              <a:rPr lang="ru-RU" sz="2000" dirty="0"/>
              <a:t> </a:t>
            </a:r>
            <a:r>
              <a:rPr lang="ru-RU" sz="2000" dirty="0" err="1"/>
              <a:t>информацията</a:t>
            </a:r>
            <a:r>
              <a:rPr lang="ru-RU" sz="2000" dirty="0"/>
              <a:t>;</a:t>
            </a:r>
          </a:p>
          <a:p>
            <a:r>
              <a:rPr lang="ru-RU" sz="2000" dirty="0"/>
              <a:t>•	</a:t>
            </a:r>
            <a:r>
              <a:rPr lang="ru-RU" sz="2000" dirty="0" err="1"/>
              <a:t>показва</a:t>
            </a:r>
            <a:r>
              <a:rPr lang="ru-RU" sz="2000" dirty="0"/>
              <a:t> </a:t>
            </a:r>
            <a:r>
              <a:rPr lang="ru-RU" sz="2000" dirty="0" err="1"/>
              <a:t>резултатите</a:t>
            </a:r>
            <a:r>
              <a:rPr lang="ru-RU" sz="2000" dirty="0"/>
              <a:t> на </a:t>
            </a:r>
            <a:r>
              <a:rPr lang="ru-RU" sz="2000" dirty="0" err="1"/>
              <a:t>екрана</a:t>
            </a:r>
            <a:r>
              <a:rPr lang="ru-RU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9633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BD1D969-9021-B121-F191-7679EEF98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Приложение на проекта</a:t>
            </a: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976FB8F8-21C3-7B6C-9C46-F6C1B8379003}"/>
              </a:ext>
            </a:extLst>
          </p:cNvPr>
          <p:cNvSpPr txBox="1"/>
          <p:nvPr/>
        </p:nvSpPr>
        <p:spPr>
          <a:xfrm>
            <a:off x="3234446" y="2795028"/>
            <a:ext cx="65321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/>
              <a:t>Системата</a:t>
            </a:r>
            <a:r>
              <a:rPr lang="ru-RU" sz="2400" dirty="0"/>
              <a:t> </a:t>
            </a:r>
            <a:r>
              <a:rPr lang="ru-RU" sz="2400" dirty="0" err="1"/>
              <a:t>може</a:t>
            </a:r>
            <a:r>
              <a:rPr lang="ru-RU" sz="2400" dirty="0"/>
              <a:t> да се </a:t>
            </a:r>
            <a:r>
              <a:rPr lang="ru-RU" sz="2400" dirty="0" err="1"/>
              <a:t>използва</a:t>
            </a:r>
            <a:r>
              <a:rPr lang="ru-RU" sz="2400" dirty="0"/>
              <a:t> за:</a:t>
            </a:r>
          </a:p>
          <a:p>
            <a:r>
              <a:rPr lang="ru-RU" sz="2400" dirty="0"/>
              <a:t>•	наблюдение на </a:t>
            </a:r>
            <a:r>
              <a:rPr lang="ru-RU" sz="2400" dirty="0" err="1"/>
              <a:t>домашни</a:t>
            </a:r>
            <a:r>
              <a:rPr lang="ru-RU" sz="2400" dirty="0"/>
              <a:t> растения;</a:t>
            </a:r>
          </a:p>
          <a:p>
            <a:r>
              <a:rPr lang="ru-RU" sz="2400" dirty="0"/>
              <a:t>•	контрол на </a:t>
            </a:r>
            <a:r>
              <a:rPr lang="ru-RU" sz="2400" dirty="0" err="1"/>
              <a:t>условията</a:t>
            </a:r>
            <a:r>
              <a:rPr lang="ru-RU" sz="2400" dirty="0"/>
              <a:t> в </a:t>
            </a:r>
            <a:r>
              <a:rPr lang="ru-RU" sz="2400" dirty="0" err="1"/>
              <a:t>оранжерии</a:t>
            </a:r>
            <a:r>
              <a:rPr lang="ru-RU" sz="2400" dirty="0"/>
              <a:t>;</a:t>
            </a:r>
          </a:p>
          <a:p>
            <a:r>
              <a:rPr lang="ru-RU" sz="2400" dirty="0"/>
              <a:t>•	</a:t>
            </a:r>
            <a:r>
              <a:rPr lang="ru-RU" sz="2400" dirty="0" err="1"/>
              <a:t>измерване</a:t>
            </a:r>
            <a:r>
              <a:rPr lang="ru-RU" sz="2400" dirty="0"/>
              <a:t> на </a:t>
            </a:r>
            <a:r>
              <a:rPr lang="ru-RU" sz="2400" dirty="0" err="1"/>
              <a:t>качеството</a:t>
            </a:r>
            <a:r>
              <a:rPr lang="ru-RU" sz="2400" dirty="0"/>
              <a:t> на </a:t>
            </a:r>
            <a:r>
              <a:rPr lang="ru-RU" sz="2400" dirty="0" err="1"/>
              <a:t>въздуха</a:t>
            </a:r>
            <a:r>
              <a:rPr lang="ru-RU" sz="2400" dirty="0"/>
              <a:t>;</a:t>
            </a:r>
          </a:p>
          <a:p>
            <a:r>
              <a:rPr lang="ru-RU" sz="2400" dirty="0"/>
              <a:t>•	обучение по </a:t>
            </a:r>
            <a:r>
              <a:rPr lang="ru-RU" sz="2400" dirty="0" err="1"/>
              <a:t>екология</a:t>
            </a:r>
            <a:r>
              <a:rPr lang="ru-RU" sz="2400" dirty="0"/>
              <a:t> и </a:t>
            </a:r>
            <a:r>
              <a:rPr lang="ru-RU" sz="2400" dirty="0" err="1"/>
              <a:t>роботика</a:t>
            </a:r>
            <a:r>
              <a:rPr lang="ru-RU" sz="2400" dirty="0"/>
              <a:t>;</a:t>
            </a:r>
          </a:p>
          <a:p>
            <a:r>
              <a:rPr lang="ru-RU" sz="2400" dirty="0"/>
              <a:t>•	умни </a:t>
            </a:r>
            <a:r>
              <a:rPr lang="ru-RU" sz="2400" dirty="0" err="1"/>
              <a:t>системи</a:t>
            </a:r>
            <a:r>
              <a:rPr lang="ru-RU" sz="2400" dirty="0"/>
              <a:t> за </a:t>
            </a:r>
            <a:r>
              <a:rPr lang="ru-RU" sz="2400" dirty="0" err="1"/>
              <a:t>автоматизирано</a:t>
            </a:r>
            <a:r>
              <a:rPr lang="ru-RU" sz="2400" dirty="0"/>
              <a:t> </a:t>
            </a:r>
            <a:r>
              <a:rPr lang="ru-RU" sz="2400" dirty="0" err="1"/>
              <a:t>земеделие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8620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BB23996-916C-A28C-B3DA-9ED2B48C8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2777066"/>
            <a:ext cx="9601196" cy="1303867"/>
          </a:xfrm>
        </p:spPr>
        <p:txBody>
          <a:bodyPr/>
          <a:lstStyle/>
          <a:p>
            <a:r>
              <a:rPr lang="bg-BG" dirty="0"/>
              <a:t>Благодарим Ви за вниманието!</a:t>
            </a:r>
          </a:p>
        </p:txBody>
      </p:sp>
    </p:spTree>
    <p:extLst>
      <p:ext uri="{BB962C8B-B14F-4D97-AF65-F5344CB8AC3E}">
        <p14:creationId xmlns:p14="http://schemas.microsoft.com/office/powerpoint/2010/main" val="9470957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рганични">
  <a:themeElements>
    <a:clrScheme name="Органични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Органични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Органични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44</TotalTime>
  <Words>420</Words>
  <Application>Microsoft Office PowerPoint</Application>
  <PresentationFormat>Widescreen</PresentationFormat>
  <Paragraphs>58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Garamond</vt:lpstr>
      <vt:lpstr>Органични</vt:lpstr>
      <vt:lpstr>Научен проект на  Георги и Надежда:  интелигентна система за мониторинг на околната среда</vt:lpstr>
      <vt:lpstr>Описание на проекта</vt:lpstr>
      <vt:lpstr>PowerPoint Presentation</vt:lpstr>
      <vt:lpstr>Използвани компоненти</vt:lpstr>
      <vt:lpstr>Схема на свързване</vt:lpstr>
      <vt:lpstr>Електрическа схема</vt:lpstr>
      <vt:lpstr>Описание на програмния код</vt:lpstr>
      <vt:lpstr>Основни функции</vt:lpstr>
      <vt:lpstr>Приложение на проекта</vt:lpstr>
      <vt:lpstr>Благодарим Ви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Научен проект на  Георги и Надежда:  интелигентна система за мониторинг на околната среда</dc:title>
  <dc:creator>Надежда П. Петкова</dc:creator>
  <cp:lastModifiedBy>Георги Бужев</cp:lastModifiedBy>
  <cp:revision>4</cp:revision>
  <dcterms:created xsi:type="dcterms:W3CDTF">2026-06-06T14:20:06Z</dcterms:created>
  <dcterms:modified xsi:type="dcterms:W3CDTF">2026-06-07T06:33:24Z</dcterms:modified>
</cp:coreProperties>
</file>